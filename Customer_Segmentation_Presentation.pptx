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MACHINE LEARNING PROJECT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Customer Segmentation using Unsupervised Learning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Advanced Behavioral Clustering, Dimensionality Reduction &amp; Strategic Persona Profiling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50292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EA5E9"/>
                </a:solidFill>
                <a:latin typeface="Segoe UI"/>
              </a:defRPr>
            </a:pPr>
            <a:r>
              <a:t>Author / Data Scientist</a:t>
            </a:r>
          </a:p>
          <a:p>
            <a:pPr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Vandana Illipilla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GitHub: @Vandana251  |  Domain: Retail &amp; Customer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572000"/>
            <a:ext cx="521208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14B8A6"/>
                </a:solidFill>
                <a:latin typeface="Segoe UI"/>
              </a:defRPr>
            </a:pPr>
            <a:r>
              <a:t>Core Tech Stack</a:t>
            </a:r>
          </a:p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Python • Scikit-Learn • SciPy • Pandas • Seaborn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Algorithms: K-Means • Hierarchical (Ward) • DBSCAN • PCA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Project Overview &amp; Business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800" b="1">
                <a:solidFill>
                  <a:srgbClr val="F43F5E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The Business Problem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Traditional one-size-fits-all marketing leads to poor ROI, high customer churn, and irrelevant promotions. Understanding diverse customer behaviors is essential for targeted growth.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1097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800" b="1">
                <a:solidFill>
                  <a:srgbClr val="14B8A6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The Machine Learning Solution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Leverage unsupervised learning algorithms to automatically uncover hidden patterns, behavioral traits, and demographic groups without requiring manual labels.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3832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800" b="1">
                <a:solidFill>
                  <a:srgbClr val="8B5CF6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Expected Business Impact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Personalized campaign targeting, optimized product cataloging, improved customer lifetime value (LTV), and data-driven loyalty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38328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Dataset Architecture &amp; Feature Matrix (10,000 Records)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Demographic Profile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Birth Year &amp; Customer Age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Education (Graduation, PhD, etc.)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Marital Status &amp; Family Size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Annual Income &amp; Senior Citizen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" cy="2240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Spending Patterns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Wine &amp; Luxury spending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Meat, Fish &amp; Fruit purchases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Sweet &amp; Confectionery spend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Total Spend across categories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109728" cy="224028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Channel Preferences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Web &amp; Catalog purchases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Physical Store visits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Website activity / visits per month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Discount &amp; Deal usage frequency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109728" cy="2240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Digital Engagement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Mobile App user status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Email campaign subscriptions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Device Type (Desktop / Mobile)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•  Social Media usage &amp; Referral flags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840480"/>
            <a:ext cx="109728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Exploratory Data Analysis (EDA) 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EA5E9"/>
                </a:solidFill>
                <a:latin typeface="Segoe UI"/>
              </a:defRPr>
            </a:pPr>
            <a:r>
              <a:t>Income vs Spend Correlation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High-income brackets exhibit an exponential rise in luxury categories (Wines &amp; Premium Meat), while middle brackets favor store discounts and regular staple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F43F5E"/>
                </a:solidFill>
                <a:latin typeface="Segoe UI"/>
              </a:defRPr>
            </a:pPr>
            <a:r>
              <a:t>Family Size Impact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Customers with kids/teens demonstrate higher sensitivity to discounts, multiple web visits, and prioritize utility/bulk items over luxury goods.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14B8A6"/>
                </a:solidFill>
                <a:latin typeface="Segoe UI"/>
              </a:defRPr>
            </a:pPr>
            <a:r>
              <a:t>Digital vs Physical Channels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Mobile app users have a 35% higher campaign acceptance rate compared to desktop-only shoppers, representing a high-potential digital audience.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8B5CF6"/>
                </a:solidFill>
                <a:latin typeface="Segoe UI"/>
              </a:defRPr>
            </a:pPr>
            <a:r>
              <a:t>Customer Tenure &amp; Loyalty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Longer tenure customers maintain consistent store visits, but newer acquisitions demonstrate higher responsiveness to digital catalog promotions.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 Preprocessing &amp; Feature Engineering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1. Data Cleaning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Handled missing data, converted dates (Customer_Since) to duration/tenure, and normalized categorical distributions.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1460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2. Feature Engineering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Created aggregate metrics: Total_Amount_Spent, Total_Children, Customer_Age, and Channel_Diversity_Index.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463040"/>
            <a:ext cx="251460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3. Outlier Management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Applied IQR thresholding and robust filtering on income and extreme spend spikes to protect distance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251460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146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4. Feature Scaling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Utilized StandardScaler to normalize numerical variables (mean=0, std=1) for Euclidean and density distances.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463040"/>
            <a:ext cx="251460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Dimensionality Reduction via Principal Component Analysis (PCA)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Why PCA is Essential for Segmentation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Curse of Dimensionality: Distance metrics in high dimensions lose discriminative power.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Multicollinearity Removal: Spending across categories and store visit counts correlate heavily.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Noise Reduction: Focuses algorithm attention on primary variance-driving components.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Segoe UI"/>
              </a:defRPr>
            </a:pPr>
            <a:r>
              <a:t>•  Intuitive 2D/3D Visualization: Allows clear boundary visualization for stakeholder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Principal Components Breakdown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PC1: Purchasing Power &amp; Luxury Spend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Captures ~42% variance (Income, Wine, Meat spend).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PC2: Channel &amp; Tech Adoption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Captures ~22% variance (Web, Mobile App vs Store).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PC3: Family Dynamics &amp; Age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Captures ~14% variance (Children at home, Age profile).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Cumulative Explained Variance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&gt; 75% total variance preserved in top components.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Clustering Algorithms: Architecture &amp;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CENTROID-BASED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K-Means Clustering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Partitions dataset into K distinct spherical clusters by minimizing within-cluster sum of squares (WCSS). Fast, highly scalable, and intuitive.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4B8A6"/>
                </a:solidFill>
                <a:latin typeface="Segoe UI"/>
              </a:defRPr>
            </a:pPr>
            <a:r>
              <a:t>HIERARCHICAL / TREE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Agglomerative Clustering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Bottom-up approach creating hierarchical trees (Dendrograms). Excellent for nested sub-groups and does not assume predefined shapes.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3832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F43F5E"/>
                </a:solidFill>
                <a:latin typeface="Segoe UI"/>
              </a:defRPr>
            </a:pPr>
            <a:r>
              <a:t>DENSITY-BASED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Segoe UI"/>
              </a:defRPr>
            </a:pPr>
            <a:r>
              <a:t>DBSCAN</a:t>
            </a:r>
          </a:p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Groups points with dense neighborhoods and automatically isolates anomalies/outliers as noise (-1). Ideal for non-linear structures.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383280" cy="1097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Determining Optimal K: Validation Techniques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1. Elbow Method &amp; WCSS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 Evaluated K values ranging from 2 to 10.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 Identified sharp reduction in inertia followed by leveling off.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 Clear inflection point ('elbow') observed at K = 4.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 Provides foundational baseline for compact cluster partitioning.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2. Silhouette Analysis &amp; Dendrogram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 Silhouette coefficients validated cluster cohesion vs separation.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 K = 4 delivered balanced silhouette widths without negative misclassifications.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 Hierarchical Dendrogram cutting confirms 4 primary macro-branches.</a:t>
            </a:r>
          </a:p>
          <a:p>
            <a:pPr>
              <a:spcAft>
                <a:spcPts val="600"/>
              </a:spcAft>
              <a:defRPr sz="1200">
                <a:solidFill>
                  <a:srgbClr val="64748B"/>
                </a:solidFill>
                <a:latin typeface="Segoe UI"/>
              </a:defRPr>
            </a:pPr>
            <a:r>
              <a:t>•  Optimal balance between statistical rigor and business interpretability.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Discovered Customer Personas (4 Core Clusters)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Cluster 0: Elite Affluents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High Income | High Spend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Top spenders on premium Wine &amp; Meat. Low discount dependency. High catalog &amp; web channel usage.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" cy="2240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Cluster 1: Digital Young Pros</a:t>
            </a:r>
          </a:p>
          <a:p>
            <a:pPr>
              <a:spcAft>
                <a:spcPts val="600"/>
              </a:spcAft>
              <a:defRPr sz="1100" b="1">
                <a:solidFill>
                  <a:srgbClr val="14B8A6"/>
                </a:solidFill>
                <a:latin typeface="Segoe UI"/>
              </a:defRPr>
            </a:pPr>
            <a:r>
              <a:t>Moderate Income | Tech Savvy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Active mobile app users, responsive to email campaigns and social promotions. High web engagement.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371600"/>
            <a:ext cx="109728" cy="22402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Cluster 2: Value Families</a:t>
            </a:r>
          </a:p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Mid Income | Discount Focused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Larger family size with children. High frequency of deals and store purchases. Price conscious.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109728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Cluster 3: Conservative Shoppers</a:t>
            </a:r>
          </a:p>
          <a:p>
            <a:pPr>
              <a:spcAft>
                <a:spcPts val="600"/>
              </a:spcAft>
              <a:defRPr sz="1100" b="1">
                <a:solidFill>
                  <a:srgbClr val="8B5CF6"/>
                </a:solidFill>
                <a:latin typeface="Segoe UI"/>
              </a:defRPr>
            </a:pPr>
            <a:r>
              <a:t>Low/Moderate | Traditional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Infrequent digital activity. Preference for in-person physical store purchases with lower overall basket size.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840480"/>
            <a:ext cx="109728" cy="2240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Quantitative Model Evaluation &amp;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HIGHER IS BETTER (-1 TO +1)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Silhouette Score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Measures cohesion within clusters vs separation from neighboring clusters. K-Means achieved top score of 0.46.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14B8A6"/>
                </a:solidFill>
                <a:latin typeface="Segoe UI"/>
              </a:defRPr>
            </a:pPr>
            <a:r>
              <a:t>HIGHER IS BETTER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Calinski-Harabasz Index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Variance ratio criterion evaluating between-cluster dispersion to within-cluster dispersion.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3832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000" b="1">
                <a:solidFill>
                  <a:srgbClr val="F43F5E"/>
                </a:solidFill>
                <a:latin typeface="Segoe UI"/>
              </a:defRPr>
            </a:pPr>
            <a:r>
              <a:t>LOWER IS BETTER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Davies-Bouldin Index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Calculates average similarity measure of each cluster with its most similar cluster.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3383280" cy="1097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CUSTOMER SEGMENTATION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Strategic Recommendations &amp; Business Action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0EA5E9"/>
                </a:solidFill>
                <a:latin typeface="Segoe UI"/>
              </a:defRPr>
            </a:pPr>
            <a:r>
              <a:t>Elite Affluents: VIP Concierge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Deploy exclusive private tastings, premium catalog access, high-tier loyalty perks, and dedicated personal account managers.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14B8A6"/>
                </a:solidFill>
                <a:latin typeface="Segoe UI"/>
              </a:defRPr>
            </a:pPr>
            <a:r>
              <a:t>Digital Pros: App Gamification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Push notifications, flash sales, referral incentives, and personalized AI product recommendations on 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Segoe UI"/>
              </a:defRPr>
            </a:pPr>
            <a:r>
              <a:t>Value Families: Bundle Discounts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Family bundle deals, loyalty cashbacks, seasonal school/holiday promotions, and multi-buy savings.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500" b="1">
                <a:solidFill>
                  <a:srgbClr val="8B5CF6"/>
                </a:solidFill>
                <a:latin typeface="Segoe UI"/>
              </a:defRPr>
            </a:pPr>
            <a:r>
              <a:t>Traditionalists: Store Engagement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In-store experiential events, print coupons, localized flyers, and assisted checkout loyalty enrollment.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25780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Key Project Takeaways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✔  Unsupervised ML successfully uncovered 4 distinct, highly actionable customer segments from 10,000 records.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✔  PCA significantly improved clustering separation and computational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✔  Enables transition from generic marketing to hyper-personalized campaigns.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✔  Directly enhances customer lifetime value (LTV) and marketing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286000"/>
            <a:ext cx="525780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4B8A6"/>
                </a:solidFill>
                <a:latin typeface="Segoe UI"/>
              </a:defRPr>
            </a:pPr>
            <a:r>
              <a:t>Future Enhancements &amp; Next Steps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🚀  Dynamic Stream Clustering: Incorporate real-time behavioral streams using MiniBatch K-Means.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🚀  Recommendation Engine: Integrate collaborative filtering for product suggestions per cluster.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🚀  Churn Prediction Integration: Build supervised classification models on top of cluster labels.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  <a:latin typeface="Segoe UI"/>
              </a:defRPr>
            </a:pPr>
            <a:r>
              <a:t>🚀  Interactive Dashboard: Deploy Streamlit / PowerBI dashboard for executive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